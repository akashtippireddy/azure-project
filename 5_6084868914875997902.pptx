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5240" y="0"/>
            <a:ext cx="12191695" cy="6858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85800"/>
            <a:ext cx="685800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00200" y="685800"/>
            <a:ext cx="685800" cy="64008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23160" y="685800"/>
            <a:ext cx="685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Azure Reserved Instances</a:t>
            </a:r>
            <a:br/>
            <a:r>
              <a:t>and Savings Plan Analysis</a:t>
            </a:r>
          </a:p>
          <a:p>
            <a:pPr>
              <a:spcBef>
                <a:spcPts val="1400"/>
              </a:spcBef>
              <a:defRPr sz="2000">
                <a:solidFill>
                  <a:srgbClr val="00BCD4"/>
                </a:solidFill>
                <a:latin typeface="Aptos"/>
              </a:defRPr>
            </a:pPr>
            <a:r>
              <a:t>Cloud Cost Optimisation / FinOps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069080"/>
            <a:ext cx="2854325" cy="2245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rPr b="1"/>
              <a:t>Student Names &amp;</a:t>
            </a:r>
            <a:r>
              <a:rPr lang="en-US" b="1"/>
              <a:t> ID’S:</a:t>
            </a:r>
            <a:endParaRPr lang="en-US" b="1"/>
          </a:p>
          <a:p>
            <a:pPr algn="l"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lang="en-US" b="1"/>
              <a:t>2400030521-L.Arun Kumar</a:t>
            </a:r>
            <a:endParaRPr lang="en-US" b="1"/>
          </a:p>
          <a:p>
            <a:pPr algn="l"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lang="en-US" b="1"/>
              <a:t>2400030594-A.Dileep chowdary</a:t>
            </a:r>
            <a:endParaRPr lang="en-US" b="1"/>
          </a:p>
          <a:p>
            <a:pPr algn="l"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lang="en-US" b="1"/>
              <a:t>2400030465-T.Akash</a:t>
            </a:r>
            <a:endParaRPr lang="en-US" b="1"/>
          </a:p>
          <a:p>
            <a:pPr algn="l"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lang="en-US" b="1"/>
              <a:t>2400030460-T.Jaya sri</a:t>
            </a:r>
            <a:endParaRPr b="1"/>
          </a:p>
          <a:p>
            <a:pPr algn="l"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b="1"/>
              <a:t>Guide: </a:t>
            </a:r>
            <a:r>
              <a:rPr lang="en-US" b="1"/>
              <a:t>RMS</a:t>
            </a:r>
            <a:r>
              <a:rPr lang="en-US" altLang="en-US" b="1"/>
              <a:t> lakshmi</a:t>
            </a:r>
            <a:endParaRPr lang="en-US" altLang="en-US" b="1"/>
          </a:p>
          <a:p>
            <a:pPr algn="l"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b="1"/>
              <a:t>Department </a:t>
            </a:r>
            <a:r>
              <a:rPr lang="en-US" b="1"/>
              <a:t>:CSE</a:t>
            </a:r>
            <a:endParaRPr lang="en-US" b="1"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Azure Reserved Instances and Savings Plan Analysis   |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t>Background and domain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03520" cy="192024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920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8191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Why Cloud Cost Optimisation?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75688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323C"/>
                </a:solidFill>
                <a:latin typeface="Aptos"/>
              </a:defRPr>
            </a:pPr>
            <a:r>
              <a:t>Cloud platforms provide flexible, usage-based infrastructure. Continuous workloads can create high recurring expenditure when pricing choices are not reviewed.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349240" cy="192024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73152" cy="19202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581912"/>
            <a:ext cx="49834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Azure Commitment Options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075688"/>
            <a:ext cx="49834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323C"/>
                </a:solidFill>
                <a:latin typeface="Aptos"/>
              </a:defRPr>
            </a:pPr>
            <a:r>
              <a:t>Azure offers Reservations and Savings Plans as commitment-based discounts. Reservations target specific configurations; Savings Plans use an hourly spend commitment across eligible usage.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10881360" cy="173736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703320"/>
            <a:ext cx="73152" cy="1737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867911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Project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361688"/>
            <a:ext cx="1051560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8323C"/>
                </a:solidFill>
                <a:latin typeface="Aptos"/>
              </a:defRPr>
            </a:pPr>
            <a:r>
              <a:t>Analyse historical Azure usage, compare pricing options, estimate savings, evaluate utilization and risk, and produce an evidence-based recommendation.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Azure Reserved Instances and Savings Plan Analysis   |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57800" cy="201168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20116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904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Existing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84248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8323C"/>
                </a:solidFill>
                <a:latin typeface="Aptos"/>
              </a:defRPr>
            </a:pPr>
            <a:r>
              <a:t>Organizations may keep resources on Pay-As-You-Go pricing without systematically checking whether a commitment would reduce long-term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49240" cy="201168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73152" cy="2011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490472"/>
            <a:ext cx="49834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984248"/>
            <a:ext cx="49834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8323C"/>
                </a:solidFill>
                <a:latin typeface="Aptos"/>
              </a:defRPr>
            </a:pPr>
            <a:r>
              <a:t>A commitment can become inefficient if workload patterns change. Short usage histories can also make recommendations less reliable.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3886200"/>
            <a:ext cx="850392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0" y="3886200"/>
            <a:ext cx="73152" cy="1417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29968" y="3982211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Core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0095" y="4242435"/>
            <a:ext cx="8138160" cy="8966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000">
                <a:solidFill>
                  <a:srgbClr val="28323C"/>
                </a:solidFill>
                <a:latin typeface="Aptos"/>
              </a:defRPr>
            </a:pPr>
            <a:r>
              <a:t>How can historical Azure usage be analysed to recommend the most suitable pricing commitment while minimizing cost and commitment risk?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Azure Reserved Instances and Savings Plan Analysis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57800" cy="192024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920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904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Why We Selected This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84248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8323C"/>
                </a:solidFill>
                <a:latin typeface="Aptos"/>
              </a:defRPr>
            </a:pPr>
            <a:r>
              <a:t>Cloud spending is a practical business problem. The project combines cloud computing, data analytics and financial decision support.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49240" cy="192024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73152" cy="1920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490472"/>
            <a:ext cx="49834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Real-World Importance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984248"/>
            <a:ext cx="49834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8323C"/>
                </a:solidFill>
                <a:latin typeface="Aptos"/>
              </a:defRPr>
            </a:pPr>
            <a:r>
              <a:t>A well-sized commitment can reduce recurring cloud costs while preserving application performance and operational flexibility.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3794760"/>
            <a:ext cx="9509760" cy="164592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25880" y="3794760"/>
            <a:ext cx="73152" cy="16459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7048" y="3959352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Key 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4453128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323C"/>
                </a:solidFill>
                <a:latin typeface="Aptos"/>
              </a:defRPr>
            </a:pPr>
            <a:r>
              <a:t>The objective is not to buy the largest discount. The objective is to identify a commitment that is supported by usage evidence and is likely to remain well utilized.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Azure Reserved Instances and Savings Plan Analysis   |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0972800" cy="132588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13258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399032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Main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92808"/>
            <a:ext cx="1060704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323C"/>
                </a:solidFill>
                <a:latin typeface="Aptos"/>
              </a:defRPr>
            </a:pPr>
            <a:r>
              <a:t>Develop an analytical decision-support system that evaluates Azure usage and recommends a suitable Reservation, Savings Plan, or Pay-As-You-Go approach.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10241280" cy="30175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23C"/>
                </a:solidFill>
                <a:latin typeface="Aptos"/>
              </a:defRPr>
            </a:pPr>
            <a:r>
              <a:t>• Analyse historical Azure usage and billing data</a:t>
            </a:r>
          </a:p>
          <a:p>
            <a:pPr>
              <a:spcAft>
                <a:spcPts val="1000"/>
              </a:spcAft>
              <a:defRPr sz="1700">
                <a:solidFill>
                  <a:srgbClr val="28323C"/>
                </a:solidFill>
                <a:latin typeface="Aptos"/>
              </a:defRPr>
            </a:pPr>
            <a:r>
              <a:t>• Identify stable, variable and uncertain workloads</a:t>
            </a:r>
          </a:p>
          <a:p>
            <a:pPr>
              <a:spcAft>
                <a:spcPts val="1000"/>
              </a:spcAft>
              <a:defRPr sz="1700">
                <a:solidFill>
                  <a:srgbClr val="28323C"/>
                </a:solidFill>
                <a:latin typeface="Aptos"/>
              </a:defRPr>
            </a:pPr>
            <a:r>
              <a:t>• Compare Pay-As-You-Go, Reservation and Savings Plan costs</a:t>
            </a:r>
          </a:p>
          <a:p>
            <a:pPr>
              <a:spcAft>
                <a:spcPts val="1000"/>
              </a:spcAft>
              <a:defRPr sz="1700">
                <a:solidFill>
                  <a:srgbClr val="28323C"/>
                </a:solidFill>
                <a:latin typeface="Aptos"/>
              </a:defRPr>
            </a:pPr>
            <a:r>
              <a:t>• Estimate annual savings and commitment utilization</a:t>
            </a:r>
          </a:p>
          <a:p>
            <a:pPr>
              <a:spcAft>
                <a:spcPts val="1000"/>
              </a:spcAft>
              <a:defRPr sz="1700">
                <a:solidFill>
                  <a:srgbClr val="28323C"/>
                </a:solidFill>
                <a:latin typeface="Aptos"/>
              </a:defRPr>
            </a:pPr>
            <a:r>
              <a:t>• Assess under-utilization and workload-change risk</a:t>
            </a:r>
          </a:p>
          <a:p>
            <a:pPr>
              <a:spcAft>
                <a:spcPts val="1000"/>
              </a:spcAft>
              <a:defRPr sz="1700">
                <a:solidFill>
                  <a:srgbClr val="28323C"/>
                </a:solidFill>
                <a:latin typeface="Aptos"/>
              </a:defRPr>
            </a:pPr>
            <a:r>
              <a:t>• Generate a documented, evidence-based 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Azure Reserved Instances and Savings Plan Analysis   |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Existing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t>Current approaches and limitations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474720" cy="20574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73152" cy="2057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39903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Azure Cost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92808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23C"/>
                </a:solidFill>
                <a:latin typeface="Aptos"/>
              </a:defRPr>
            </a:pPr>
            <a:r>
              <a:t>Provides cost analysis, usage views and pricing-model information. Useful for monitoring, but decision making can still require interpretation.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474720" cy="20574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73152" cy="20574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39903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Azure Advisor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892808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23C"/>
                </a:solidFill>
                <a:latin typeface="Aptos"/>
              </a:defRPr>
            </a:pPr>
            <a:r>
              <a:t>Provides recommendation capabilities for selected Azure services. Recommendations are based on usage patterns and existing commitments.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234440"/>
            <a:ext cx="3474720" cy="20574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234440"/>
            <a:ext cx="73152" cy="2057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39903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Manual / Spreadsheet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892808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23C"/>
                </a:solidFill>
                <a:latin typeface="Aptos"/>
              </a:defRPr>
            </a:pPr>
            <a:r>
              <a:t>Teams may export usage and manually compare costs, which can be slow, inconsistent and difficult to scale.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977639"/>
            <a:ext cx="9966960" cy="150876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3977639"/>
            <a:ext cx="73152" cy="1508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4142231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Limitations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4636007"/>
            <a:ext cx="960120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8323C"/>
                </a:solidFill>
                <a:latin typeface="Aptos"/>
              </a:defRPr>
            </a:pPr>
            <a:r>
              <a:t>Short history • changing workloads • under-utilization risk • difficult comparison of commitment models • limited transparency for non-technical decision makers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Azure Reserved Instances and Savings Plan Analysis   |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t>Data-driven commitment recommendation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417320" cy="1143000"/>
          </a:xfrm>
          <a:prstGeom prst="roundRect">
            <a:avLst/>
          </a:prstGeom>
          <a:solidFill>
            <a:srgbClr val="E8F3FC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38528"/>
            <a:ext cx="1417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0078D4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04288"/>
            <a:ext cx="1417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0C2340"/>
                </a:solidFill>
                <a:latin typeface="Aptos Display"/>
              </a:defRPr>
            </a:pPr>
            <a:r>
              <a:t>Usage Data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2395728"/>
            <a:ext cx="502920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23160" y="1828800"/>
            <a:ext cx="1417320" cy="1143000"/>
          </a:xfrm>
          <a:prstGeom prst="roundRect">
            <a:avLst/>
          </a:prstGeom>
          <a:solidFill>
            <a:srgbClr val="E8F3FC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1938528"/>
            <a:ext cx="1417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0078D4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304288"/>
            <a:ext cx="1417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0C2340"/>
                </a:solidFill>
                <a:latin typeface="Aptos Display"/>
              </a:defRPr>
            </a:pPr>
            <a:r>
              <a:t>Preprocess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0" y="2395728"/>
            <a:ext cx="502920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43400" y="1828800"/>
            <a:ext cx="1417320" cy="1143000"/>
          </a:xfrm>
          <a:prstGeom prst="roundRect">
            <a:avLst/>
          </a:prstGeom>
          <a:solidFill>
            <a:srgbClr val="E8F3FC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938528"/>
            <a:ext cx="1417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0078D4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304288"/>
            <a:ext cx="1417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0C2340"/>
                </a:solidFill>
                <a:latin typeface="Aptos Display"/>
              </a:defRPr>
            </a:pPr>
            <a:r>
              <a:t>Analyse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60720" y="2395728"/>
            <a:ext cx="502920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63640" y="1828800"/>
            <a:ext cx="1417320" cy="1143000"/>
          </a:xfrm>
          <a:prstGeom prst="roundRect">
            <a:avLst/>
          </a:prstGeom>
          <a:solidFill>
            <a:srgbClr val="E8F3FC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938528"/>
            <a:ext cx="1417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0078D4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304288"/>
            <a:ext cx="1417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0C2340"/>
                </a:solidFill>
                <a:latin typeface="Aptos Display"/>
              </a:defRPr>
            </a:pPr>
            <a:r>
              <a:t>Compare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80960" y="2395728"/>
            <a:ext cx="502919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83879" y="1828800"/>
            <a:ext cx="1417320" cy="1143000"/>
          </a:xfrm>
          <a:prstGeom prst="roundRect">
            <a:avLst/>
          </a:prstGeom>
          <a:solidFill>
            <a:srgbClr val="E8F3FC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9" y="1938528"/>
            <a:ext cx="1417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0078D4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2304288"/>
            <a:ext cx="1417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0C2340"/>
                </a:solidFill>
                <a:latin typeface="Aptos Display"/>
              </a:defRPr>
            </a:pPr>
            <a:r>
              <a:t>Risk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01200" y="2395728"/>
            <a:ext cx="502920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104120" y="1828800"/>
            <a:ext cx="1417320" cy="1143000"/>
          </a:xfrm>
          <a:prstGeom prst="roundRect">
            <a:avLst/>
          </a:prstGeom>
          <a:solidFill>
            <a:srgbClr val="E8F3FC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04120" y="1938528"/>
            <a:ext cx="1417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0078D4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2304288"/>
            <a:ext cx="1417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0C2340"/>
                </a:solidFill>
                <a:latin typeface="Aptos Display"/>
              </a:defRPr>
            </a:pPr>
            <a:r>
              <a:t>Recommend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3886200"/>
            <a:ext cx="8549640" cy="150876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0" y="3886200"/>
            <a:ext cx="73152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9968" y="4050791"/>
            <a:ext cx="8183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Recommendation Logic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9968" y="4544568"/>
            <a:ext cx="8183879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8323C"/>
                </a:solidFill>
                <a:latin typeface="Aptos"/>
              </a:defRPr>
            </a:pPr>
            <a:r>
              <a:t>Stable and predictable workload → Reservation</a:t>
            </a:r>
            <a:br/>
            <a:r>
              <a:t>Dynamic but consistent eligible compute spend → Savings Plan</a:t>
            </a:r>
            <a:br/>
            <a:r>
              <a:t>Highly uncertain / temporary workload → Pay-As-You-Go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Azure Reserved Instances and Savings Plan Analysis   |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905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00</a:t>
            </a:r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Advantages of the 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925" y="1325880"/>
            <a:ext cx="10241280" cy="4480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323C"/>
                </a:solidFill>
                <a:latin typeface="Aptos"/>
              </a:defRPr>
            </a:pPr>
            <a:r>
              <a:t>• Data-driven rather than purely manual decision making</a:t>
            </a:r>
          </a:p>
          <a:p>
            <a:pPr>
              <a:spcAft>
                <a:spcPts val="1000"/>
              </a:spcAft>
              <a:defRPr sz="1800">
                <a:solidFill>
                  <a:srgbClr val="28323C"/>
                </a:solidFill>
                <a:latin typeface="Aptos"/>
              </a:defRPr>
            </a:pPr>
            <a:r>
              <a:t>• Unified comparison of three pricing approaches</a:t>
            </a:r>
          </a:p>
          <a:p>
            <a:pPr>
              <a:spcAft>
                <a:spcPts val="1000"/>
              </a:spcAft>
              <a:defRPr sz="1800">
                <a:solidFill>
                  <a:srgbClr val="28323C"/>
                </a:solidFill>
                <a:latin typeface="Aptos"/>
              </a:defRPr>
            </a:pPr>
            <a:r>
              <a:t>• Annual savings estimation</a:t>
            </a:r>
          </a:p>
          <a:p>
            <a:pPr>
              <a:spcAft>
                <a:spcPts val="1000"/>
              </a:spcAft>
              <a:defRPr sz="1800">
                <a:solidFill>
                  <a:srgbClr val="28323C"/>
                </a:solidFill>
                <a:latin typeface="Aptos"/>
              </a:defRPr>
            </a:pPr>
            <a:r>
              <a:t>• Utilization and under-commitment analysis</a:t>
            </a:r>
          </a:p>
          <a:p>
            <a:pPr>
              <a:spcAft>
                <a:spcPts val="1000"/>
              </a:spcAft>
              <a:defRPr sz="1800">
                <a:solidFill>
                  <a:srgbClr val="28323C"/>
                </a:solidFill>
                <a:latin typeface="Aptos"/>
              </a:defRPr>
            </a:pPr>
            <a:r>
              <a:t>• Risk-aware recommendation</a:t>
            </a:r>
          </a:p>
          <a:p>
            <a:pPr>
              <a:spcAft>
                <a:spcPts val="1000"/>
              </a:spcAft>
              <a:defRPr sz="1800">
                <a:solidFill>
                  <a:srgbClr val="28323C"/>
                </a:solidFill>
                <a:latin typeface="Aptos"/>
              </a:defRPr>
            </a:pPr>
            <a:r>
              <a:t>• Documented evidence for management review</a:t>
            </a:r>
          </a:p>
          <a:p>
            <a:pPr>
              <a:spcAft>
                <a:spcPts val="1000"/>
              </a:spcAft>
              <a:defRPr sz="1800">
                <a:solidFill>
                  <a:srgbClr val="28323C"/>
                </a:solidFill>
                <a:latin typeface="Aptos"/>
              </a:defRPr>
            </a:pPr>
            <a:r>
              <a:t>• Reduced repetitive analysis effort</a:t>
            </a:r>
          </a:p>
          <a:p>
            <a:pPr>
              <a:spcAft>
                <a:spcPts val="1000"/>
              </a:spcAft>
              <a:defRPr sz="1800">
                <a:solidFill>
                  <a:srgbClr val="28323C"/>
                </a:solidFill>
                <a:latin typeface="Aptos"/>
              </a:defRPr>
            </a:pPr>
            <a:r>
              <a:t>• Can be extended to dashboards and automated data pipelines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86840" y="5251450"/>
            <a:ext cx="8869680" cy="73152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0193" y="4840097"/>
            <a:ext cx="85039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Key Benefit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3200" y="5394960"/>
            <a:ext cx="8503920" cy="5607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>
                <a:solidFill>
                  <a:srgbClr val="28323C"/>
                </a:solidFill>
                <a:latin typeface="Aptos"/>
              </a:defRPr>
            </a:pPr>
            <a:r>
              <a:t>Recommend the right commitment only when the usage pattern provides sufficient confidence.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Azure Reserved Instances and Savings Plan Analysis   |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Literature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t>Five relevant studies / technical references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2014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886200"/>
                <a:gridCol w="5257800"/>
              </a:tblGrid>
              <a:tr h="7543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Study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Key Finding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  <a:latin typeface="Aptos"/>
                        </a:defRPr>
                      </a:pPr>
                      <a:r>
                        <a:t>Nodari et al. (2016)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  <a:latin typeface="Aptos"/>
                        </a:defRPr>
                      </a:pPr>
                      <a:r>
                        <a:t>Inventory theory applied to cloud cost optimization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  <a:latin typeface="Aptos"/>
                        </a:defRPr>
                      </a:pPr>
                      <a:r>
                        <a:t>Optimizes combinations of reserved and on-demand capacity.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  <a:latin typeface="Aptos"/>
                        </a:defRPr>
                      </a:pPr>
                      <a:r>
                        <a:t>Chen et al. (2020)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  <a:latin typeface="Aptos"/>
                        </a:defRPr>
                      </a:pPr>
                      <a:r>
                        <a:t>Two-phase cloud resource provisioning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  <a:latin typeface="Aptos"/>
                        </a:defRPr>
                      </a:pPr>
                      <a:r>
                        <a:t>Combines demand prediction and optimization for cost-aware provisioning.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  <a:latin typeface="Aptos"/>
                        </a:defRPr>
                      </a:pPr>
                      <a:r>
                        <a:t>Jiang et al. (2016)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  <a:latin typeface="Aptos"/>
                        </a:defRPr>
                      </a:pPr>
                      <a:r>
                        <a:t>Cost-effective resource configuration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  <a:latin typeface="Aptos"/>
                        </a:defRPr>
                      </a:pPr>
                      <a:r>
                        <a:t>Uses workload prediction and hybrid resource configurations.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  <a:latin typeface="Aptos"/>
                        </a:defRPr>
                      </a:pPr>
                      <a:r>
                        <a:t>Chen, Lei &amp; Moinzadeh 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  <a:latin typeface="Aptos"/>
                        </a:defRPr>
                      </a:pPr>
                      <a:r>
                        <a:t>Capacity reservation under intermittent demand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  <a:latin typeface="Aptos"/>
                        </a:defRPr>
                      </a:pPr>
                      <a:r>
                        <a:t>Studies reservation decisions when demand includes surges.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  <a:latin typeface="Aptos"/>
                        </a:defRPr>
                      </a:pPr>
                      <a:r>
                        <a:t>Ghasemi et al. (2023)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  <a:latin typeface="Aptos"/>
                        </a:defRPr>
                      </a:pPr>
                      <a:r>
                        <a:t>Cost-aware optimized resource provisioning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  <a:latin typeface="Aptos"/>
                        </a:defRPr>
                      </a:pPr>
                      <a:r>
                        <a:t>Uses learning-based provisioning while considering cost and service needs.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Azure Reserved Instances and Savings Plan Analysis   |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Research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57800" cy="192024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920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904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What Existing Work Covers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84248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323C"/>
                </a:solidFill>
                <a:latin typeface="Aptos"/>
              </a:defRPr>
            </a:pPr>
            <a:r>
              <a:t>Resource provisioning • demand prediction • reservation optimization • cost-aware allocation • mathematical / learning-based optimization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49240" cy="192024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73152" cy="1920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490472"/>
            <a:ext cx="49834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Gap Identified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984248"/>
            <a:ext cx="49834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323C"/>
                </a:solidFill>
                <a:latin typeface="Aptos"/>
              </a:defRPr>
            </a:pPr>
            <a:r>
              <a:t>A practical Azure-focused decision-support workflow that compares Reservations and Savings Plans using usage evidence, savings estimates and commitment-risk indicators.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3794760"/>
            <a:ext cx="93268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17320" y="3794760"/>
            <a:ext cx="73152" cy="1600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8488" y="3959352"/>
            <a:ext cx="89611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Our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8488" y="4453128"/>
            <a:ext cx="89611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323C"/>
                </a:solidFill>
                <a:latin typeface="Aptos"/>
              </a:defRPr>
            </a:pPr>
            <a:r>
              <a:t>Usage analysis + pricing comparison + annual savings estimation + utilization analysis + risk assessment + understandable recommendation report.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Azure Reserved Instances and Savings Plan Analysis   |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Methodology /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389888" cy="1325880"/>
          </a:xfrm>
          <a:prstGeom prst="roundRect">
            <a:avLst/>
          </a:prstGeom>
          <a:solidFill>
            <a:srgbClr val="E8F3FC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90472"/>
            <a:ext cx="138988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0C2340"/>
                </a:solidFill>
                <a:latin typeface="Aptos Display"/>
              </a:defRPr>
            </a:pPr>
            <a:r>
              <a:t>Collect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47672"/>
            <a:ext cx="1389888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0">
                <a:solidFill>
                  <a:srgbClr val="28323C"/>
                </a:solidFill>
                <a:latin typeface="Aptos Display"/>
              </a:defRPr>
            </a:pPr>
            <a:r>
              <a:t>Azure usage &amp; billing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92808" y="2075688"/>
            <a:ext cx="274320" cy="0"/>
          </a:xfrm>
          <a:prstGeom prst="line">
            <a:avLst/>
          </a:prstGeom>
          <a:ln w="1905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67128" y="1417320"/>
            <a:ext cx="1389888" cy="1325880"/>
          </a:xfrm>
          <a:prstGeom prst="roundRect">
            <a:avLst/>
          </a:prstGeom>
          <a:solidFill>
            <a:srgbClr val="E8F3FC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7128" y="1490472"/>
            <a:ext cx="138988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0C2340"/>
                </a:solidFill>
                <a:latin typeface="Aptos Display"/>
              </a:defRPr>
            </a:pPr>
            <a:r>
              <a:t>Clean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7128" y="1947672"/>
            <a:ext cx="1389888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0">
                <a:solidFill>
                  <a:srgbClr val="28323C"/>
                </a:solidFill>
                <a:latin typeface="Aptos Display"/>
              </a:defRPr>
            </a:pPr>
            <a:r>
              <a:t>Missing / duplicate data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57016" y="2075688"/>
            <a:ext cx="274320" cy="0"/>
          </a:xfrm>
          <a:prstGeom prst="line">
            <a:avLst/>
          </a:prstGeom>
          <a:ln w="1905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831336" y="1417320"/>
            <a:ext cx="1389888" cy="1325880"/>
          </a:xfrm>
          <a:prstGeom prst="roundRect">
            <a:avLst/>
          </a:prstGeom>
          <a:solidFill>
            <a:srgbClr val="E8F3FC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1336" y="1490472"/>
            <a:ext cx="138988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0C2340"/>
                </a:solidFill>
                <a:latin typeface="Aptos Display"/>
              </a:defRPr>
            </a:pPr>
            <a:r>
              <a:t>Analyse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31336" y="1947672"/>
            <a:ext cx="1389888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0">
                <a:solidFill>
                  <a:srgbClr val="28323C"/>
                </a:solidFill>
                <a:latin typeface="Aptos Display"/>
              </a:defRPr>
            </a:pPr>
            <a:r>
              <a:t>Usage statistics &amp; trends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21224" y="2075688"/>
            <a:ext cx="274320" cy="0"/>
          </a:xfrm>
          <a:prstGeom prst="line">
            <a:avLst/>
          </a:prstGeom>
          <a:ln w="1905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95544" y="1417320"/>
            <a:ext cx="1389888" cy="1325880"/>
          </a:xfrm>
          <a:prstGeom prst="roundRect">
            <a:avLst/>
          </a:prstGeom>
          <a:solidFill>
            <a:srgbClr val="E8F3FC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95544" y="1490472"/>
            <a:ext cx="138988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0C2340"/>
                </a:solidFill>
                <a:latin typeface="Aptos Display"/>
              </a:defRPr>
            </a:pPr>
            <a:r>
              <a:t>Classify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95544" y="1947672"/>
            <a:ext cx="1389888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0">
                <a:solidFill>
                  <a:srgbClr val="28323C"/>
                </a:solidFill>
                <a:latin typeface="Aptos Display"/>
              </a:defRPr>
            </a:pPr>
            <a:r>
              <a:t>Stable / variable / uncertain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85431" y="2075688"/>
            <a:ext cx="274321" cy="0"/>
          </a:xfrm>
          <a:prstGeom prst="line">
            <a:avLst/>
          </a:prstGeom>
          <a:ln w="1905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159752" y="1417320"/>
            <a:ext cx="1389888" cy="1325880"/>
          </a:xfrm>
          <a:prstGeom prst="roundRect">
            <a:avLst/>
          </a:prstGeom>
          <a:solidFill>
            <a:srgbClr val="E8F3FC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59752" y="1490472"/>
            <a:ext cx="138988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0C2340"/>
                </a:solidFill>
                <a:latin typeface="Aptos Display"/>
              </a:defRPr>
            </a:pPr>
            <a:r>
              <a:t>Calculate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1947672"/>
            <a:ext cx="1389888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0">
                <a:solidFill>
                  <a:srgbClr val="28323C"/>
                </a:solidFill>
                <a:latin typeface="Aptos Display"/>
              </a:defRPr>
            </a:pPr>
            <a:r>
              <a:t>PAYG / Reservation / Savings Plan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49640" y="2075688"/>
            <a:ext cx="274320" cy="0"/>
          </a:xfrm>
          <a:prstGeom prst="line">
            <a:avLst/>
          </a:prstGeom>
          <a:ln w="1905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823960" y="1417320"/>
            <a:ext cx="1389888" cy="1325880"/>
          </a:xfrm>
          <a:prstGeom prst="roundRect">
            <a:avLst/>
          </a:prstGeom>
          <a:solidFill>
            <a:srgbClr val="E8F3FC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1490472"/>
            <a:ext cx="138988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0C2340"/>
                </a:solidFill>
                <a:latin typeface="Aptos Display"/>
              </a:defRPr>
            </a:pPr>
            <a:r>
              <a:t>Evaluate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1947672"/>
            <a:ext cx="1389888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0">
                <a:solidFill>
                  <a:srgbClr val="28323C"/>
                </a:solidFill>
                <a:latin typeface="Aptos Display"/>
              </a:defRPr>
            </a:pPr>
            <a:r>
              <a:t>Savings + utilization + risk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213848" y="2075688"/>
            <a:ext cx="274320" cy="0"/>
          </a:xfrm>
          <a:prstGeom prst="line">
            <a:avLst/>
          </a:prstGeom>
          <a:ln w="1905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488168" y="1417320"/>
            <a:ext cx="1389888" cy="1325880"/>
          </a:xfrm>
          <a:prstGeom prst="roundRect">
            <a:avLst/>
          </a:prstGeom>
          <a:solidFill>
            <a:srgbClr val="E8F3FC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88168" y="1490472"/>
            <a:ext cx="138988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0C2340"/>
                </a:solidFill>
                <a:latin typeface="Aptos Display"/>
              </a:defRPr>
            </a:pPr>
            <a:r>
              <a:t>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88168" y="1947672"/>
            <a:ext cx="1389888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0">
                <a:solidFill>
                  <a:srgbClr val="28323C"/>
                </a:solidFill>
                <a:latin typeface="Aptos Display"/>
              </a:defRPr>
            </a:pPr>
            <a:r>
              <a:t>Final recommendation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34440" y="3703320"/>
            <a:ext cx="9692640" cy="155448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34440" y="3703320"/>
            <a:ext cx="73152" cy="155448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35608" y="3867911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Decision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35608" y="4361688"/>
            <a:ext cx="932688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8323C"/>
                </a:solidFill>
                <a:latin typeface="Aptos"/>
              </a:defRPr>
            </a:pPr>
            <a:r>
              <a:t>Commitment recommendation should be based on a stable baseline rather than the highest observed usage. A confidence/risk score should accompany every recommendation.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Azure Reserved Instances and Savings Plan Analysis   |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Technologies / Algorithms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42900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1828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39903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92808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323C"/>
                </a:solidFill>
                <a:latin typeface="Aptos"/>
              </a:defRPr>
            </a:pPr>
            <a:r>
              <a:t>Microsoft Azure</a:t>
            </a:r>
            <a:br/>
            <a:r>
              <a:t>Azure Cost Management / Usage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42900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34440"/>
            <a:ext cx="73152" cy="18288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39903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Programming &amp;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92808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323C"/>
                </a:solidFill>
                <a:latin typeface="Aptos"/>
              </a:defRPr>
            </a:pPr>
            <a:r>
              <a:t>Python</a:t>
            </a:r>
            <a:br/>
            <a:r>
              <a:t>Pandas</a:t>
            </a:r>
            <a:br/>
            <a:r>
              <a:t>NumPy</a:t>
            </a:r>
            <a:br/>
            <a:r>
              <a:t>Jupyter / VS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34440"/>
            <a:ext cx="342900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234440"/>
            <a:ext cx="73152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39903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Storage &amp; Reporting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892808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323C"/>
                </a:solidFill>
                <a:latin typeface="Aptos"/>
              </a:defRPr>
            </a:pPr>
            <a:r>
              <a:t>PostgreSQL (if implemented)</a:t>
            </a:r>
            <a:br/>
            <a:r>
              <a:t>Excel / Power BI</a:t>
            </a:r>
            <a:br/>
            <a:r>
              <a:t>Matplotlib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3840480"/>
            <a:ext cx="9601200" cy="146304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80160" y="3840480"/>
            <a:ext cx="73152" cy="1463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81328" y="4005072"/>
            <a:ext cx="9235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Analysis Techniques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498848"/>
            <a:ext cx="9235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8323C"/>
                </a:solidFill>
                <a:latin typeface="Aptos"/>
              </a:defRPr>
            </a:pPr>
            <a:r>
              <a:t>Descriptive statistics • moving averages • usage variability • cost-benefit analysis • utilization • threshold-based recommendation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Azure Reserved Instances and Savings Plan Analysis   |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Module Description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3474720" cy="178308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80160"/>
            <a:ext cx="73152" cy="1783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44751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1. Data Collection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38528"/>
            <a:ext cx="310896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23C"/>
                </a:solidFill>
                <a:latin typeface="Aptos"/>
              </a:defRPr>
            </a:pPr>
            <a:r>
              <a:t>Import usage, billing, SKU, region and resource information.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280160"/>
            <a:ext cx="3474720" cy="178308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280160"/>
            <a:ext cx="73152" cy="178308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1444751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2.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1938528"/>
            <a:ext cx="310896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23C"/>
                </a:solidFill>
                <a:latin typeface="Aptos"/>
              </a:defRPr>
            </a:pPr>
            <a:r>
              <a:t>Clean, validate, normalize and aggregate usage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280160"/>
            <a:ext cx="3474720" cy="178308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280160"/>
            <a:ext cx="73152" cy="1783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444751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3. Usage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1938528"/>
            <a:ext cx="310896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23C"/>
                </a:solidFill>
                <a:latin typeface="Aptos"/>
              </a:defRPr>
            </a:pPr>
            <a:r>
              <a:t>Calculate average, minimum, maximum, trend and variability.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20440"/>
            <a:ext cx="3474720" cy="178308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520440"/>
            <a:ext cx="73152" cy="1783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68503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4. Cost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178808"/>
            <a:ext cx="310896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23C"/>
                </a:solidFill>
                <a:latin typeface="Aptos"/>
              </a:defRPr>
            </a:pPr>
            <a:r>
              <a:t>Compare PAYG, Reservation and Savings Plan scenarios.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520440"/>
            <a:ext cx="3474720" cy="178308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520440"/>
            <a:ext cx="73152" cy="1783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8" y="368503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5. 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4178808"/>
            <a:ext cx="310896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23C"/>
                </a:solidFill>
                <a:latin typeface="Aptos"/>
              </a:defRPr>
            </a:pPr>
            <a:r>
              <a:t>Select the best option using savings, stability and risk.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520440"/>
            <a:ext cx="3474720" cy="178308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3520440"/>
            <a:ext cx="73152" cy="1783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76488" y="368503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6. 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4178808"/>
            <a:ext cx="310896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323C"/>
                </a:solidFill>
                <a:latin typeface="Aptos"/>
              </a:defRPr>
            </a:pPr>
            <a:r>
              <a:t>Generate charts, savings summary and recommendation evidence.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Azure Reserved Instances and Savings Plan Analysis   |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905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57400"/>
            <a:ext cx="1417320" cy="14173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141732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t>Azure Usage /</a:t>
            </a:r>
            <a:br/>
            <a:r>
              <a:t>Billing Data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2770632"/>
            <a:ext cx="246888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67128" y="2057400"/>
            <a:ext cx="1417320" cy="14173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67128" y="2240280"/>
            <a:ext cx="141732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t>Data Collection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84448" y="2770632"/>
            <a:ext cx="246888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31336" y="2057400"/>
            <a:ext cx="1417320" cy="14173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31336" y="2240280"/>
            <a:ext cx="141732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t>Preprocessing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48656" y="2770632"/>
            <a:ext cx="246888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95544" y="2057400"/>
            <a:ext cx="1417320" cy="14173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95544" y="2240280"/>
            <a:ext cx="141732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t>Usage Analysis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12864" y="2770632"/>
            <a:ext cx="246888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159752" y="2057400"/>
            <a:ext cx="1417320" cy="14173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9752" y="2240280"/>
            <a:ext cx="141732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t>Workload Classification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77072" y="2770632"/>
            <a:ext cx="246888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823960" y="2057400"/>
            <a:ext cx="1417320" cy="14173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240280"/>
            <a:ext cx="141732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t>Cost + Risk Engine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241280" y="2770632"/>
            <a:ext cx="246888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488168" y="2057400"/>
            <a:ext cx="1417320" cy="1417320"/>
          </a:xfrm>
          <a:prstGeom prst="round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88168" y="2240280"/>
            <a:ext cx="141732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t>Recommendation</a:t>
            </a:r>
            <a:br/>
            <a:r>
              <a:t>&amp; Report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4160520"/>
            <a:ext cx="8595360" cy="123444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28800" y="4160520"/>
            <a:ext cx="73152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29968" y="4325112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30095" y="4697095"/>
            <a:ext cx="8229600" cy="533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700">
                <a:solidFill>
                  <a:srgbClr val="28323C"/>
                </a:solidFill>
                <a:latin typeface="Aptos"/>
              </a:defRPr>
            </a:pPr>
            <a:r>
              <a:t>Recommended pricing model + estimated annual savings + utilization + risk level + confidence/evidence summary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Azure Reserved Instances and Savings Plan Analysis   |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2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Use Case &amp; Data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200400" cy="201168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73152" cy="20116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44751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Actors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38528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8323C"/>
                </a:solidFill>
                <a:latin typeface="Aptos"/>
              </a:defRPr>
            </a:pPr>
            <a:r>
              <a:t>Cloud Administrator</a:t>
            </a:r>
            <a:br/>
            <a:r>
              <a:t>FinOps / Cost Analyst</a:t>
            </a:r>
            <a:br/>
            <a:r>
              <a:t>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280160"/>
            <a:ext cx="3474720" cy="201168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280160"/>
            <a:ext cx="73152" cy="201168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815" y="1355090"/>
            <a:ext cx="3108960" cy="50101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Use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815" y="1701165"/>
            <a:ext cx="3108960" cy="14262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>
                <a:solidFill>
                  <a:srgbClr val="28323C"/>
                </a:solidFill>
                <a:latin typeface="Aptos"/>
              </a:defRPr>
            </a:pPr>
            <a:r>
              <a:t>Upload usage data</a:t>
            </a:r>
            <a:br/>
            <a:r>
              <a:t>Analyse workload</a:t>
            </a:r>
            <a:br/>
            <a:r>
              <a:t>Compare pricing</a:t>
            </a:r>
            <a:br/>
            <a:r>
              <a:t>Estimate savings</a:t>
            </a:r>
            <a:br/>
            <a:r>
              <a:t>Generate recommendation</a:t>
            </a:r>
            <a:br/>
            <a:r>
              <a:t>View report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280160"/>
            <a:ext cx="3474720" cy="201168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280160"/>
            <a:ext cx="73152" cy="2011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1444751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Core Data Entities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938528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323C"/>
                </a:solidFill>
                <a:latin typeface="Aptos"/>
              </a:defRPr>
            </a:pPr>
            <a:r>
              <a:t>RESOURCE</a:t>
            </a:r>
            <a:br/>
            <a:r>
              <a:t>USAGE</a:t>
            </a:r>
            <a:br/>
            <a:r>
              <a:t>PRICING_PLAN</a:t>
            </a:r>
            <a:br/>
            <a:r>
              <a:t>RECOMMENDATION</a:t>
            </a:r>
            <a:br/>
            <a:r>
              <a:t>REPORT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64335" y="4250690"/>
            <a:ext cx="8503920" cy="150876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0" y="4250690"/>
            <a:ext cx="73152" cy="1508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2910" y="3881755"/>
            <a:ext cx="8475345" cy="58039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Example Recommendation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30095" y="4251325"/>
            <a:ext cx="8138160" cy="9791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>
                <a:solidFill>
                  <a:srgbClr val="28323C"/>
                </a:solidFill>
                <a:latin typeface="Aptos"/>
              </a:defRPr>
            </a:pPr>
            <a:r>
              <a:t>Resource: VM / compute workload</a:t>
            </a:r>
            <a:br/>
            <a:r>
              <a:t>Recommended plan: Savings Plan</a:t>
            </a:r>
            <a:br/>
            <a:r>
              <a:t>Estimated savings: calculated from dataset</a:t>
            </a:r>
            <a:br/>
            <a:r>
              <a:t>Utilization: calculated from baseline</a:t>
            </a:r>
            <a:br/>
            <a:r>
              <a:t>Risk: Low / Medium / 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Azure Reserved Instances and Savings Plan Analysis   |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Cost Analysis &amp; Recommendation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2588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Option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Best Fit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Flexibility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Decision Signal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  <a:latin typeface="Aptos"/>
                        </a:defRPr>
                      </a:pPr>
                      <a:r>
                        <a:t>Pay-As-You-Go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  <a:latin typeface="Aptos"/>
                        </a:defRPr>
                      </a:pPr>
                      <a:r>
                        <a:t>Uncertain / temporary usage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  <a:latin typeface="Aptos"/>
                        </a:defRPr>
                      </a:pPr>
                      <a:r>
                        <a:t>Use when commitment confidence is 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  <a:latin typeface="Aptos"/>
                        </a:defRPr>
                      </a:pPr>
                      <a:r>
                        <a:t>Reservation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  <a:latin typeface="Aptos"/>
                        </a:defRPr>
                      </a:pPr>
                      <a:r>
                        <a:t>Stable resource, family and region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  <a:latin typeface="Aptos"/>
                        </a:defRPr>
                      </a:pPr>
                      <a:r>
                        <a:t>Lower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  <a:latin typeface="Aptos"/>
                        </a:defRPr>
                      </a:pPr>
                      <a:r>
                        <a:t>Use when configuration is predictable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  <a:latin typeface="Aptos"/>
                        </a:defRPr>
                      </a:pPr>
                      <a:r>
                        <a:t>Savings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  <a:latin typeface="Aptos"/>
                        </a:defRPr>
                      </a:pPr>
                      <a:r>
                        <a:t>Dynamic but consistent eligible compute 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  <a:latin typeface="Aptos"/>
                        </a:defRPr>
                      </a:pPr>
                      <a:r>
                        <a:t>Higher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323C"/>
                          </a:solidFill>
                          <a:latin typeface="Aptos"/>
                        </a:defRPr>
                      </a:pPr>
                      <a:r>
                        <a:t>Use when workload can shift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3977639"/>
            <a:ext cx="5212080" cy="146304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977639"/>
            <a:ext cx="73152" cy="14630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255" y="3979545"/>
            <a:ext cx="4846320" cy="5740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Calculation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255" y="4348480"/>
            <a:ext cx="4846320" cy="7219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>
                <a:solidFill>
                  <a:srgbClr val="28323C"/>
                </a:solidFill>
                <a:latin typeface="Aptos"/>
              </a:defRPr>
            </a:pPr>
            <a:r>
              <a:t>Annual PAYG Cost = hourly PAYG rate × usage hours</a:t>
            </a:r>
            <a:br/>
            <a:r>
              <a:t>Annual Savings = PAYG annual cost − commitment annual cost</a:t>
            </a:r>
            <a:br/>
            <a:r>
              <a:t>Savings % = annual savings ÷ PAYG annual cost × 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977639"/>
            <a:ext cx="5029200" cy="146304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3977639"/>
            <a:ext cx="73152" cy="1463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935" y="4029710"/>
            <a:ext cx="4663440" cy="5238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935" y="4366895"/>
            <a:ext cx="4663440" cy="909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>
                <a:solidFill>
                  <a:srgbClr val="28323C"/>
                </a:solidFill>
                <a:latin typeface="Aptos"/>
              </a:defRPr>
            </a:pPr>
            <a:r>
              <a:t>Choose the option with the best expected value after considering savings, utilization, workload stability and commitment risk—not discount percentage alone.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Azure Reserved Instances and Savings Plan Analysis   |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082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Expected Results /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257800" cy="201168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73152" cy="20116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44751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Expected Functionality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38528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323C"/>
                </a:solidFill>
                <a:latin typeface="Aptos"/>
              </a:defRPr>
            </a:pPr>
            <a:r>
              <a:t>Analyse usage history</a:t>
            </a:r>
            <a:br/>
            <a:r>
              <a:t>Compare pricing models</a:t>
            </a:r>
            <a:br/>
            <a:r>
              <a:t>Estimate annual cost</a:t>
            </a:r>
            <a:br/>
            <a:r>
              <a:t>Generate recommendation</a:t>
            </a:r>
            <a:br/>
            <a:r>
              <a:t>Produce visual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80160"/>
            <a:ext cx="5349240" cy="201168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280160"/>
            <a:ext cx="73152" cy="2011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444751"/>
            <a:ext cx="49834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Expected Benefits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938528"/>
            <a:ext cx="49834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323C"/>
                </a:solidFill>
                <a:latin typeface="Aptos"/>
              </a:defRPr>
            </a:pPr>
            <a:r>
              <a:t>Lower cloud expenditure</a:t>
            </a:r>
            <a:br/>
            <a:r>
              <a:t>Improved utilization</a:t>
            </a:r>
            <a:br/>
            <a:r>
              <a:t>Better financial planning</a:t>
            </a:r>
            <a:br/>
            <a:r>
              <a:t>Reduced manual effort</a:t>
            </a:r>
            <a:br/>
            <a:r>
              <a:t>Evidence-based decisions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3840480"/>
            <a:ext cx="667512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3840480"/>
            <a:ext cx="73152" cy="1600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44495" y="3495675"/>
            <a:ext cx="6309360" cy="92075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Illustrative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495" y="3857625"/>
            <a:ext cx="6309360" cy="14185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700">
                <a:solidFill>
                  <a:srgbClr val="28323C"/>
                </a:solidFill>
                <a:latin typeface="Aptos"/>
              </a:defRPr>
            </a:pPr>
            <a:r>
              <a:t>PAYG Annual Cost: ₹10,00,000</a:t>
            </a:r>
            <a:br/>
            <a:r>
              <a:t>Commitment Cost: ₹7,00,000</a:t>
            </a:r>
            <a:br/>
            <a:r>
              <a:t>Estimated Savings: ₹3,00,000</a:t>
            </a:r>
            <a:br/>
            <a:r>
              <a:t>Savings: 30%</a:t>
            </a:r>
            <a:br/>
            <a:r>
              <a:t>Utilization: 92%</a:t>
            </a:r>
            <a:br/>
            <a:r>
              <a:t>Risk: 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5577840"/>
            <a:ext cx="6492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5F6973"/>
                </a:solidFill>
                <a:latin typeface="Aptos"/>
              </a:defRPr>
            </a:pPr>
            <a:r>
              <a:t>Illustrative values only — replace with actual project results.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Azure Reserved Instances and Savings Plan Analysis   |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Risks &amp; Mitigation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25780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73152" cy="1600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44751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Changing Usage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38528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8323C"/>
                </a:solidFill>
                <a:latin typeface="Aptos"/>
              </a:defRPr>
            </a:pPr>
            <a:r>
              <a:t>Risk: workload may change after commitment.</a:t>
            </a:r>
            <a:br/>
            <a:r>
              <a:t>Mitigation: use stable baseline, trend analysis and safety margin.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80160"/>
            <a:ext cx="534924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280160"/>
            <a:ext cx="73152" cy="1600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444751"/>
            <a:ext cx="49834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Short Usage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938528"/>
            <a:ext cx="49834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8323C"/>
                </a:solidFill>
                <a:latin typeface="Aptos"/>
              </a:defRPr>
            </a:pPr>
            <a:r>
              <a:t>Risk: limited history may not represent future demand.</a:t>
            </a:r>
            <a:br/>
            <a:r>
              <a:t>Mitigation: prefer longer history and label low-confidence recommendations.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37560"/>
            <a:ext cx="525780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337560"/>
            <a:ext cx="73152" cy="1600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50215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Under-utilization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995928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8323C"/>
                </a:solidFill>
                <a:latin typeface="Aptos"/>
              </a:defRPr>
            </a:pPr>
            <a:r>
              <a:t>Risk: committed capacity/spend may exceed actual usage.</a:t>
            </a:r>
            <a:br/>
            <a:r>
              <a:t>Mitigation: calculate utilization and show risk before recommendation.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337560"/>
            <a:ext cx="534924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337560"/>
            <a:ext cx="73152" cy="1600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502152"/>
            <a:ext cx="49834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Incorrect Forecast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995928"/>
            <a:ext cx="49834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8323C"/>
                </a:solidFill>
                <a:latin typeface="Aptos"/>
              </a:defRPr>
            </a:pPr>
            <a:r>
              <a:t>Risk: unexpected demand changes affect savings.</a:t>
            </a:r>
            <a:br/>
            <a:r>
              <a:t>Mitigation: monitor trends and reassess recommendations periodically.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Azure Reserved Instances and Savings Plan Analysis   |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Project Timeline / Work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2743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2743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75688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8323C"/>
                </a:solidFill>
                <a:latin typeface="Aptos"/>
              </a:defRPr>
            </a:pPr>
            <a:r>
              <a:t>Problem identification</a:t>
            </a:r>
            <a:br/>
            <a:r>
              <a:t>Literature survey</a:t>
            </a:r>
            <a:br/>
            <a:r>
              <a:t>Requirement analysis</a:t>
            </a:r>
            <a:br/>
            <a:r>
              <a:t>Azure pricing study</a:t>
            </a:r>
            <a:br/>
            <a:r>
              <a:t>System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337560" cy="2743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73152" cy="2743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5819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Current Phase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075688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8323C"/>
                </a:solidFill>
                <a:latin typeface="Aptos"/>
              </a:defRPr>
            </a:pPr>
            <a:r>
              <a:t>Data preparation</a:t>
            </a:r>
            <a:br/>
            <a:r>
              <a:t>Cost-analysis logic</a:t>
            </a:r>
            <a:br/>
            <a:r>
              <a:t>Recommendation model</a:t>
            </a:r>
            <a:br/>
            <a:r>
              <a:t>Database / dashboard implementation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417320"/>
            <a:ext cx="3337560" cy="2743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417320"/>
            <a:ext cx="73152" cy="2743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5819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Next Phase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075688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8323C"/>
                </a:solidFill>
                <a:latin typeface="Aptos"/>
              </a:defRPr>
            </a:pPr>
            <a:r>
              <a:t>Testing</a:t>
            </a:r>
            <a:br/>
            <a:r>
              <a:t>Result validation</a:t>
            </a:r>
            <a:br/>
            <a:r>
              <a:t>Savings evaluation</a:t>
            </a:r>
            <a:br/>
            <a:r>
              <a:t>Documentation</a:t>
            </a:r>
            <a:br/>
            <a:r>
              <a:t>Final presentation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4709160"/>
            <a:ext cx="8321040" cy="9144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20240" y="4709160"/>
            <a:ext cx="73152" cy="9144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21535" y="4744720"/>
            <a:ext cx="7955280" cy="54038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Overall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21535" y="5151755"/>
            <a:ext cx="7955280" cy="3073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800">
                <a:solidFill>
                  <a:srgbClr val="28323C"/>
                </a:solidFill>
                <a:latin typeface="Aptos"/>
              </a:defRPr>
            </a:pPr>
            <a:r>
              <a:t>Study → Design → Implement → Test → Evaluate → Document → Present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Azure Reserved Instances and Savings Plan Analysis   |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828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490472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8323C"/>
                </a:solidFill>
                <a:latin typeface="Aptos"/>
              </a:defRPr>
            </a:pPr>
            <a:r>
              <a:t>The proposed system analyses Azure usage and helps organizations choose between Pay-As-You-Go, Reservations and Savings Plans based on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21208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73152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490472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Expected 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984248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8323C"/>
                </a:solidFill>
                <a:latin typeface="Aptos"/>
              </a:defRPr>
            </a:pPr>
            <a:r>
              <a:t>A practical decision-support workflow combining usage analysis, cost comparison, savings estimation, utilization and commitment-risk evaluation.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3931920"/>
            <a:ext cx="850392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0" y="3931920"/>
            <a:ext cx="73152" cy="14173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29968" y="4096511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2340"/>
                </a:solidFill>
                <a:latin typeface="Aptos Display"/>
              </a:defRPr>
            </a:pPr>
            <a:r>
              <a:t>Final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4590288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323C"/>
                </a:solidFill>
                <a:latin typeface="Aptos"/>
              </a:defRPr>
            </a:pPr>
            <a:r>
              <a:t>Reduce Azure cloud expenditure while maintaining appropriate flexibility and avoiding unnecessary long-term commitments.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Azure Reserved Instances and Savings Plan Analysis   |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424160" cy="5212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8323C"/>
                </a:solidFill>
                <a:latin typeface="Aptos"/>
              </a:defRPr>
            </a:pPr>
            <a:r>
              <a:t>• Microsoft Learn — Save with Azure savings plans</a:t>
            </a:r>
          </a:p>
          <a:p>
            <a:pPr>
              <a:spcAft>
                <a:spcPts val="1000"/>
              </a:spcAft>
              <a:defRPr sz="1400">
                <a:solidFill>
                  <a:srgbClr val="28323C"/>
                </a:solidFill>
                <a:latin typeface="Aptos"/>
              </a:defRPr>
            </a:pPr>
            <a:r>
              <a:t>• Microsoft Learn — What are savings plans?</a:t>
            </a:r>
          </a:p>
          <a:p>
            <a:pPr>
              <a:spcAft>
                <a:spcPts val="1000"/>
              </a:spcAft>
              <a:defRPr sz="1400">
                <a:solidFill>
                  <a:srgbClr val="28323C"/>
                </a:solidFill>
                <a:latin typeface="Aptos"/>
              </a:defRPr>
            </a:pPr>
            <a:r>
              <a:t>• Microsoft Learn — Decide between a savings plan and a reservation</a:t>
            </a:r>
          </a:p>
          <a:p>
            <a:pPr>
              <a:spcAft>
                <a:spcPts val="1000"/>
              </a:spcAft>
              <a:defRPr sz="1400">
                <a:solidFill>
                  <a:srgbClr val="28323C"/>
                </a:solidFill>
                <a:latin typeface="Aptos"/>
              </a:defRPr>
            </a:pPr>
            <a:r>
              <a:t>• Microsoft Learn — What are Azure Reservations?</a:t>
            </a:r>
          </a:p>
          <a:p>
            <a:pPr>
              <a:spcAft>
                <a:spcPts val="1000"/>
              </a:spcAft>
              <a:defRPr sz="1400">
                <a:solidFill>
                  <a:srgbClr val="28323C"/>
                </a:solidFill>
                <a:latin typeface="Aptos"/>
              </a:defRPr>
            </a:pPr>
            <a:r>
              <a:t>• Microsoft Learn — Azure reservation recommendations</a:t>
            </a:r>
          </a:p>
          <a:p>
            <a:pPr>
              <a:spcAft>
                <a:spcPts val="1000"/>
              </a:spcAft>
              <a:defRPr sz="1400">
                <a:solidFill>
                  <a:srgbClr val="28323C"/>
                </a:solidFill>
                <a:latin typeface="Aptos"/>
              </a:defRPr>
            </a:pPr>
            <a:r>
              <a:t>• Microsoft Azure — Savings Plans pricing and overview</a:t>
            </a:r>
          </a:p>
          <a:p>
            <a:pPr>
              <a:spcAft>
                <a:spcPts val="1000"/>
              </a:spcAft>
              <a:defRPr sz="1400">
                <a:solidFill>
                  <a:srgbClr val="28323C"/>
                </a:solidFill>
                <a:latin typeface="Aptos"/>
              </a:defRPr>
            </a:pPr>
            <a:r>
              <a:t>• Nodari, A., Nurminen, J. K., &amp; Frühwirth, C. — Inventory Theory Applied to Cost Optimization in Cloud Computing</a:t>
            </a:r>
          </a:p>
          <a:p>
            <a:pPr>
              <a:spcAft>
                <a:spcPts val="1000"/>
              </a:spcAft>
              <a:defRPr sz="1400">
                <a:solidFill>
                  <a:srgbClr val="28323C"/>
                </a:solidFill>
                <a:latin typeface="Aptos"/>
              </a:defRPr>
            </a:pPr>
            <a:r>
              <a:t>• Chen et al. — A Two-Phase Cloud Resource Provisioning Algorithm for Cost Optimization</a:t>
            </a:r>
          </a:p>
          <a:p>
            <a:pPr>
              <a:spcAft>
                <a:spcPts val="1000"/>
              </a:spcAft>
              <a:defRPr sz="1400">
                <a:solidFill>
                  <a:srgbClr val="28323C"/>
                </a:solidFill>
                <a:latin typeface="Aptos"/>
              </a:defRPr>
            </a:pPr>
            <a:r>
              <a:t>• Jiang, Y., Ma, X., &amp; Chen, W. — Cost-effective Resource Configuration for Cloud Video Streaming Services</a:t>
            </a:r>
          </a:p>
          <a:p>
            <a:pPr>
              <a:spcAft>
                <a:spcPts val="1000"/>
              </a:spcAft>
              <a:defRPr sz="1400">
                <a:solidFill>
                  <a:srgbClr val="28323C"/>
                </a:solidFill>
                <a:latin typeface="Aptos"/>
              </a:defRPr>
            </a:pPr>
            <a:r>
              <a:t>• Chen, S., Lei, J., &amp; Moinzadeh, K. — Cost Optimization in Cloud Computing</a:t>
            </a:r>
          </a:p>
          <a:p>
            <a:pPr>
              <a:spcAft>
                <a:spcPts val="1000"/>
              </a:spcAft>
              <a:defRPr sz="1400">
                <a:solidFill>
                  <a:srgbClr val="28323C"/>
                </a:solidFill>
                <a:latin typeface="Aptos"/>
              </a:defRPr>
            </a:pPr>
            <a:r>
              <a:t>• Ghasemi et al. — A Cost-Aware Mechanism for Optimized Resource Provisioning in Cloud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Azure Reserved Instances and Savings Plan Analysis   |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10055" y="2434590"/>
            <a:ext cx="7735570" cy="1568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rPr sz="9600"/>
              <a:t>Thank You</a:t>
            </a:r>
            <a:endParaRPr sz="9600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  <a:latin typeface="Aptos"/>
              </a:defRPr>
            </a:pPr>
            <a:r>
              <a:t>Azure Reserved Instances and Savings Plan Analysis   |  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11610</Words>
  <Application>WPS Presentation</Application>
  <PresentationFormat>On-screen Show (4:3)</PresentationFormat>
  <Paragraphs>475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Arial</vt:lpstr>
      <vt:lpstr>SimSun</vt:lpstr>
      <vt:lpstr>Wingdings</vt:lpstr>
      <vt:lpstr>Arial</vt:lpstr>
      <vt:lpstr>Aptos Display</vt:lpstr>
      <vt:lpstr>Segoe UI Variable Display</vt:lpstr>
      <vt:lpstr>Aptos</vt:lpstr>
      <vt:lpstr>Calibri</vt:lpstr>
      <vt:lpstr>Segoe UI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WPS_1726737573</cp:lastModifiedBy>
  <cp:revision>2</cp:revision>
  <dcterms:created xsi:type="dcterms:W3CDTF">2013-01-27T09:14:00Z</dcterms:created>
  <dcterms:modified xsi:type="dcterms:W3CDTF">2026-08-25T09:44:18Z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6F2FBB4C1DFF495CB67B13EC6731E540_13</vt:lpwstr>
  </property>
</Properties>
</file>